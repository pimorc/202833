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57" r:id="rId4"/>
    <p:sldId id="258" r:id="rId5"/>
    <p:sldId id="259" r:id="rId6"/>
    <p:sldId id="260" r:id="rId7"/>
    <p:sldId id="264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A8FD6E-BBFE-57F8-4989-A0A57076A151}" v="21" dt="2024-03-05T04:43:38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2" d="100"/>
          <a:sy n="102" d="100"/>
        </p:scale>
        <p:origin x="180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MONRAT TIANSAWAT" userId="S::pimonrat.t@cmu.ac.th::23cb1940-24c3-4a1d-b572-740fee7145f1" providerId="AD" clId="Web-{B9A8FD6E-BBFE-57F8-4989-A0A57076A151}"/>
    <pc:docChg chg="modSld">
      <pc:chgData name="PIMONRAT TIANSAWAT" userId="S::pimonrat.t@cmu.ac.th::23cb1940-24c3-4a1d-b572-740fee7145f1" providerId="AD" clId="Web-{B9A8FD6E-BBFE-57F8-4989-A0A57076A151}" dt="2024-03-05T04:43:38.053" v="20"/>
      <pc:docMkLst>
        <pc:docMk/>
      </pc:docMkLst>
      <pc:sldChg chg="addSp">
        <pc:chgData name="PIMONRAT TIANSAWAT" userId="S::pimonrat.t@cmu.ac.th::23cb1940-24c3-4a1d-b572-740fee7145f1" providerId="AD" clId="Web-{B9A8FD6E-BBFE-57F8-4989-A0A57076A151}" dt="2024-03-05T04:39:49.613" v="9"/>
        <pc:sldMkLst>
          <pc:docMk/>
          <pc:sldMk cId="0" sldId="257"/>
        </pc:sldMkLst>
        <pc:inkChg chg="add">
          <ac:chgData name="PIMONRAT TIANSAWAT" userId="S::pimonrat.t@cmu.ac.th::23cb1940-24c3-4a1d-b572-740fee7145f1" providerId="AD" clId="Web-{B9A8FD6E-BBFE-57F8-4989-A0A57076A151}" dt="2024-03-05T04:39:24.238" v="0"/>
          <ac:inkMkLst>
            <pc:docMk/>
            <pc:sldMk cId="0" sldId="257"/>
            <ac:inkMk id="4" creationId="{3A2F9B1D-C201-14F9-4086-770723C2185C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39:27.441" v="1"/>
          <ac:inkMkLst>
            <pc:docMk/>
            <pc:sldMk cId="0" sldId="257"/>
            <ac:inkMk id="10" creationId="{EC9A5DA6-71CA-B5D1-AB51-681191D98916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39:29.457" v="2"/>
          <ac:inkMkLst>
            <pc:docMk/>
            <pc:sldMk cId="0" sldId="257"/>
            <ac:inkMk id="19" creationId="{F643B30B-29B9-F3A9-1B75-0A09A1133A99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39:30.988" v="3"/>
          <ac:inkMkLst>
            <pc:docMk/>
            <pc:sldMk cId="0" sldId="257"/>
            <ac:inkMk id="20" creationId="{63252A71-8E11-4B11-D29A-5566B43D94E0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39:37.285" v="4"/>
          <ac:inkMkLst>
            <pc:docMk/>
            <pc:sldMk cId="0" sldId="257"/>
            <ac:inkMk id="21" creationId="{21506AF9-249E-E7AC-C29F-F54FA90AE7E8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39:37.910" v="5"/>
          <ac:inkMkLst>
            <pc:docMk/>
            <pc:sldMk cId="0" sldId="257"/>
            <ac:inkMk id="22" creationId="{409B1038-68CA-12F6-EFAE-F5334ACC4645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39:43.426" v="6"/>
          <ac:inkMkLst>
            <pc:docMk/>
            <pc:sldMk cId="0" sldId="257"/>
            <ac:inkMk id="23" creationId="{5FE3D322-DADB-4DBB-BEA2-335CFFFB679A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39:44.176" v="7"/>
          <ac:inkMkLst>
            <pc:docMk/>
            <pc:sldMk cId="0" sldId="257"/>
            <ac:inkMk id="24" creationId="{B865B91E-C114-A3A1-6C33-C82C065E28A5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39:48.613" v="8"/>
          <ac:inkMkLst>
            <pc:docMk/>
            <pc:sldMk cId="0" sldId="257"/>
            <ac:inkMk id="25" creationId="{02550A34-33BC-EB2B-5B76-26A798BF761E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39:49.613" v="9"/>
          <ac:inkMkLst>
            <pc:docMk/>
            <pc:sldMk cId="0" sldId="257"/>
            <ac:inkMk id="26" creationId="{AEF048D6-64FD-4F96-1C22-7FEB26FCE2D2}"/>
          </ac:inkMkLst>
        </pc:inkChg>
      </pc:sldChg>
      <pc:sldChg chg="addSp">
        <pc:chgData name="PIMONRAT TIANSAWAT" userId="S::pimonrat.t@cmu.ac.th::23cb1940-24c3-4a1d-b572-740fee7145f1" providerId="AD" clId="Web-{B9A8FD6E-BBFE-57F8-4989-A0A57076A151}" dt="2024-03-05T04:42:53.162" v="16"/>
        <pc:sldMkLst>
          <pc:docMk/>
          <pc:sldMk cId="0" sldId="258"/>
        </pc:sldMkLst>
        <pc:inkChg chg="add">
          <ac:chgData name="PIMONRAT TIANSAWAT" userId="S::pimonrat.t@cmu.ac.th::23cb1940-24c3-4a1d-b572-740fee7145f1" providerId="AD" clId="Web-{B9A8FD6E-BBFE-57F8-4989-A0A57076A151}" dt="2024-03-05T04:42:35.693" v="10"/>
          <ac:inkMkLst>
            <pc:docMk/>
            <pc:sldMk cId="0" sldId="258"/>
            <ac:inkMk id="4" creationId="{4730A0D7-C75E-1D6E-D085-D4DBC34BC251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42:36.396" v="11"/>
          <ac:inkMkLst>
            <pc:docMk/>
            <pc:sldMk cId="0" sldId="258"/>
            <ac:inkMk id="5" creationId="{0CC58241-8049-4303-3137-84527198D714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42:41.427" v="12"/>
          <ac:inkMkLst>
            <pc:docMk/>
            <pc:sldMk cId="0" sldId="258"/>
            <ac:inkMk id="6" creationId="{B96C10A1-C63F-70DC-CFB7-AE8BCBA0A300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42:50.943" v="13"/>
          <ac:inkMkLst>
            <pc:docMk/>
            <pc:sldMk cId="0" sldId="258"/>
            <ac:inkMk id="7" creationId="{444B3EB7-0FF2-9763-D2C9-77A67C052692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42:50.943" v="14"/>
          <ac:inkMkLst>
            <pc:docMk/>
            <pc:sldMk cId="0" sldId="258"/>
            <ac:inkMk id="8" creationId="{DC6F8B1C-CFD7-5751-0E97-F1B8D8AFD340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42:53.162" v="15"/>
          <ac:inkMkLst>
            <pc:docMk/>
            <pc:sldMk cId="0" sldId="258"/>
            <ac:inkMk id="9" creationId="{E9851DEF-34F8-08A1-6AE2-88587B4E7E68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42:53.162" v="16"/>
          <ac:inkMkLst>
            <pc:docMk/>
            <pc:sldMk cId="0" sldId="258"/>
            <ac:inkMk id="10" creationId="{395A1134-1E7B-5252-8C70-FC2ECA97CC94}"/>
          </ac:inkMkLst>
        </pc:inkChg>
      </pc:sldChg>
      <pc:sldChg chg="addSp">
        <pc:chgData name="PIMONRAT TIANSAWAT" userId="S::pimonrat.t@cmu.ac.th::23cb1940-24c3-4a1d-b572-740fee7145f1" providerId="AD" clId="Web-{B9A8FD6E-BBFE-57F8-4989-A0A57076A151}" dt="2024-03-05T04:43:38.053" v="20"/>
        <pc:sldMkLst>
          <pc:docMk/>
          <pc:sldMk cId="0" sldId="260"/>
        </pc:sldMkLst>
        <pc:inkChg chg="add">
          <ac:chgData name="PIMONRAT TIANSAWAT" userId="S::pimonrat.t@cmu.ac.th::23cb1940-24c3-4a1d-b572-740fee7145f1" providerId="AD" clId="Web-{B9A8FD6E-BBFE-57F8-4989-A0A57076A151}" dt="2024-03-05T04:43:24.427" v="17"/>
          <ac:inkMkLst>
            <pc:docMk/>
            <pc:sldMk cId="0" sldId="260"/>
            <ac:inkMk id="4" creationId="{81961D44-0260-5B70-664B-FDDE475F9DD2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43:38.037" v="18"/>
          <ac:inkMkLst>
            <pc:docMk/>
            <pc:sldMk cId="0" sldId="260"/>
            <ac:inkMk id="5" creationId="{1C7AEBC7-E455-9C89-D1CB-F6DE9049FD10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43:38.037" v="19"/>
          <ac:inkMkLst>
            <pc:docMk/>
            <pc:sldMk cId="0" sldId="260"/>
            <ac:inkMk id="6" creationId="{476EABE2-2FCC-E3CE-69F5-FCF92FEEAC7E}"/>
          </ac:inkMkLst>
        </pc:inkChg>
        <pc:inkChg chg="add">
          <ac:chgData name="PIMONRAT TIANSAWAT" userId="S::pimonrat.t@cmu.ac.th::23cb1940-24c3-4a1d-b572-740fee7145f1" providerId="AD" clId="Web-{B9A8FD6E-BBFE-57F8-4989-A0A57076A151}" dt="2024-03-05T04:43:38.053" v="20"/>
          <ac:inkMkLst>
            <pc:docMk/>
            <pc:sldMk cId="0" sldId="260"/>
            <ac:inkMk id="7" creationId="{B9AFE136-39D0-F962-7E34-668CD6F5C6CF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183AF-C419-9847-B360-299B921706E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EB7942-7475-734A-9D08-38DF9799ACC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http://</a:t>
            </a:r>
            <a:r>
              <a:rPr lang="en-US" dirty="0" err="1"/>
              <a:t>ecopy.readthedocs.io/en/latest/_images/duneshepard.png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B7942-7475-734A-9D08-38DF9799ACC7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E32-014C-CF47-A830-7562BA2B7688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25C-0726-8644-9B09-F45D5C4B04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E32-014C-CF47-A830-7562BA2B7688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25C-0726-8644-9B09-F45D5C4B04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E32-014C-CF47-A830-7562BA2B7688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25C-0726-8644-9B09-F45D5C4B04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E32-014C-CF47-A830-7562BA2B7688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25C-0726-8644-9B09-F45D5C4B04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E32-014C-CF47-A830-7562BA2B7688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25C-0726-8644-9B09-F45D5C4B04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E32-014C-CF47-A830-7562BA2B7688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25C-0726-8644-9B09-F45D5C4B04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E32-014C-CF47-A830-7562BA2B7688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25C-0726-8644-9B09-F45D5C4B04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E32-014C-CF47-A830-7562BA2B7688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25C-0726-8644-9B09-F45D5C4B04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E32-014C-CF47-A830-7562BA2B7688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25C-0726-8644-9B09-F45D5C4B04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E32-014C-CF47-A830-7562BA2B7688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25C-0726-8644-9B09-F45D5C4B04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EE32-014C-CF47-A830-7562BA2B7688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25C-0726-8644-9B09-F45D5C4B04A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DEE32-014C-CF47-A830-7562BA2B7688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1B25C-0726-8644-9B09-F45D5C4B04A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Multidimensional scaling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Pimonrat Tiansawat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Students should be 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described some terms related to NMDS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explain step to do NMDS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Multidimensional scaling (MDS)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Visualize the level of similarity (or dissimilarity) of individual cases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066800" y="4995333"/>
            <a:ext cx="7044267" cy="16934"/>
          </a:xfrm>
          <a:prstGeom prst="line">
            <a:avLst/>
          </a:prstGeom>
          <a:ln w="571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887325" y="5401733"/>
            <a:ext cx="11028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Plot 1</a:t>
            </a:r>
          </a:p>
          <a:p>
            <a:pPr algn="ctr"/>
            <a:r>
              <a:rPr lang="en-US" sz="2800" dirty="0"/>
              <a:t>5</a:t>
            </a:r>
          </a:p>
          <a:p>
            <a:pPr algn="ctr"/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7260263" y="5401733"/>
            <a:ext cx="11028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Plot 2</a:t>
            </a:r>
          </a:p>
          <a:p>
            <a:r>
              <a:rPr lang="en-US" sz="2800" dirty="0"/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82003" y="5401733"/>
            <a:ext cx="11028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Plot 3 </a:t>
            </a:r>
          </a:p>
          <a:p>
            <a:pPr algn="ctr"/>
            <a:r>
              <a:rPr lang="en-US" sz="2800" dirty="0"/>
              <a:t>7 </a:t>
            </a:r>
          </a:p>
        </p:txBody>
      </p:sp>
      <p:cxnSp>
        <p:nvCxnSpPr>
          <p:cNvPr id="9" name="Straight Connector 8"/>
          <p:cNvCxnSpPr/>
          <p:nvPr/>
        </p:nvCxnSpPr>
        <p:spPr>
          <a:xfrm rot="5400000" flipH="1" flipV="1">
            <a:off x="847461" y="4943737"/>
            <a:ext cx="440266" cy="1588"/>
          </a:xfrm>
          <a:prstGeom prst="line">
            <a:avLst/>
          </a:prstGeom>
          <a:ln w="571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 flipH="1" flipV="1">
            <a:off x="7890140" y="5011473"/>
            <a:ext cx="440266" cy="1588"/>
          </a:xfrm>
          <a:prstGeom prst="line">
            <a:avLst/>
          </a:prstGeom>
          <a:ln w="571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 flipH="1" flipV="1">
            <a:off x="3268928" y="4943737"/>
            <a:ext cx="440266" cy="1588"/>
          </a:xfrm>
          <a:prstGeom prst="line">
            <a:avLst/>
          </a:prstGeom>
          <a:ln w="571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 flipH="1" flipV="1">
            <a:off x="5673461" y="5011473"/>
            <a:ext cx="440266" cy="1588"/>
          </a:xfrm>
          <a:prstGeom prst="line">
            <a:avLst/>
          </a:prstGeom>
          <a:ln w="571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8267" y="4047067"/>
            <a:ext cx="384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7672" y="4047067"/>
            <a:ext cx="384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0617" y="4047067"/>
            <a:ext cx="5840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7447" y="4047067"/>
            <a:ext cx="5840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1820" y="3166533"/>
            <a:ext cx="3506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Abundance of species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MDS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Reconstruct a map that preserves distances </a:t>
            </a:r>
          </a:p>
          <a:p>
            <a:endParaRPr lang="en-US" dirty="0"/>
          </a:p>
          <a:p>
            <a:r>
              <a:rPr lang="en-US" dirty="0"/>
              <a:t>Several types of MDS</a:t>
            </a:r>
          </a:p>
          <a:p>
            <a:pPr lvl="1"/>
            <a:r>
              <a:rPr lang="en-US" dirty="0"/>
              <a:t>Classical MDS: Principal Coordinate Analysis</a:t>
            </a:r>
          </a:p>
          <a:p>
            <a:pPr lvl="1"/>
            <a:r>
              <a:rPr lang="en-US" dirty="0"/>
              <a:t>Metric MDS</a:t>
            </a:r>
          </a:p>
          <a:p>
            <a:pPr lvl="1"/>
            <a:r>
              <a:rPr lang="en-US" dirty="0"/>
              <a:t>Non-metric MDS: NMDS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NMDS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686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Plot	sp1	sp2	sp3	sp4	sp5	sp6	sp7	sp8…</a:t>
            </a:r>
          </a:p>
          <a:p>
            <a:pPr>
              <a:buNone/>
            </a:pPr>
            <a:r>
              <a:rPr lang="en-US" dirty="0"/>
              <a:t>1         1        0        0        0        0        0        0</a:t>
            </a:r>
          </a:p>
          <a:p>
            <a:pPr>
              <a:buNone/>
            </a:pPr>
            <a:r>
              <a:rPr lang="en-US" dirty="0"/>
              <a:t>2         3        0        0        2        0        3        4</a:t>
            </a:r>
          </a:p>
          <a:p>
            <a:pPr>
              <a:buNone/>
            </a:pPr>
            <a:r>
              <a:rPr lang="en-US" dirty="0"/>
              <a:t>3         0        4        0        7        0        2        0</a:t>
            </a:r>
          </a:p>
          <a:p>
            <a:pPr>
              <a:buNone/>
            </a:pPr>
            <a:r>
              <a:rPr lang="en-US" dirty="0"/>
              <a:t>4         0        8        0        2        0        2        3</a:t>
            </a:r>
          </a:p>
          <a:p>
            <a:pPr>
              <a:buNone/>
            </a:pPr>
            <a:r>
              <a:rPr lang="en-US" dirty="0"/>
              <a:t>5         2        0        0        0        4        2        2</a:t>
            </a:r>
          </a:p>
          <a:p>
            <a:pPr>
              <a:buNone/>
            </a:pPr>
            <a:r>
              <a:rPr lang="en-US" dirty="0"/>
              <a:t>6         2        0        0        0        3        0        0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NMDS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Calculate distance matrix </a:t>
            </a:r>
            <a:r>
              <a:rPr lang="en-US" dirty="0" err="1">
                <a:sym typeface="Wingdings"/>
              </a:rPr>
              <a:t></a:t>
            </a:r>
            <a:r>
              <a:rPr lang="en-US" dirty="0">
                <a:sym typeface="Wingdings"/>
              </a:rPr>
              <a:t> rank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Specify the number of reduced dimensions (common = 2)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Construct the configuration of samples in N dimension (coordinate)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Regress distance in the map against the observed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Determine stress and decide if it needs to reconstruct the configuration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Repeat step 5 until stress is minimum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0"/>
            <a:ext cx="6731000" cy="660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4267" y="6488668"/>
            <a:ext cx="8449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https://jslefche.files.wordpress.com/2012/10/stressplot.png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493F1-D245-4A7C-87F9-E5EDB3EED923}"/>
              </a:ext>
            </a:extLst>
          </p:cNvPr>
          <p:cNvSpPr txBox="1"/>
          <p:nvPr/>
        </p:nvSpPr>
        <p:spPr>
          <a:xfrm>
            <a:off x="381000" y="2911876"/>
            <a:ext cx="11925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Ordination</a:t>
            </a:r>
          </a:p>
          <a:p>
            <a:r>
              <a:rPr lang="en-US" dirty="0"/>
              <a:t>distance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76D407-7380-4DF0-8903-ADFCDA60F47A}"/>
              </a:ext>
            </a:extLst>
          </p:cNvPr>
          <p:cNvSpPr txBox="1"/>
          <p:nvPr/>
        </p:nvSpPr>
        <p:spPr>
          <a:xfrm>
            <a:off x="137604" y="206750"/>
            <a:ext cx="2319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Shepard plot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Stress – goodness of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rPr lang="en-US" dirty="0"/>
              <a:t>Low stress is better.</a:t>
            </a:r>
          </a:p>
          <a:p>
            <a:pPr>
              <a:buNone/>
            </a:pPr>
            <a:r>
              <a:rPr lang="en-US" dirty="0"/>
              <a:t>	&gt;0.3 is poor </a:t>
            </a:r>
          </a:p>
          <a:p>
            <a:pPr>
              <a:buNone/>
            </a:pPr>
            <a:r>
              <a:rPr lang="en-US" dirty="0"/>
              <a:t>	0.2 is ok</a:t>
            </a:r>
          </a:p>
          <a:p>
            <a:pPr>
              <a:buNone/>
            </a:pPr>
            <a:r>
              <a:rPr lang="en-US" dirty="0"/>
              <a:t>	0.1 is great</a:t>
            </a:r>
          </a:p>
          <a:p>
            <a:pPr>
              <a:buNone/>
            </a:pPr>
            <a:r>
              <a:rPr lang="en-US" dirty="0"/>
              <a:t>	&lt; 0.05 is excellent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CD31C6-BD83-4A12-ACDD-4269CD337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542" y="2116775"/>
            <a:ext cx="4740187" cy="287479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46C2B8-06BA-44AD-94FA-7C8F55AE837F}"/>
              </a:ext>
            </a:extLst>
          </p:cNvPr>
          <p:cNvCxnSpPr/>
          <p:nvPr/>
        </p:nvCxnSpPr>
        <p:spPr>
          <a:xfrm>
            <a:off x="6090082" y="1882066"/>
            <a:ext cx="310718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B488CB-5BB5-4B8A-ACDC-2B6D65940F40}"/>
              </a:ext>
            </a:extLst>
          </p:cNvPr>
          <p:cNvCxnSpPr>
            <a:cxnSpLocks/>
          </p:cNvCxnSpPr>
          <p:nvPr/>
        </p:nvCxnSpPr>
        <p:spPr>
          <a:xfrm flipH="1">
            <a:off x="7680664" y="1944210"/>
            <a:ext cx="291484" cy="852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EC900CF-D9F2-423F-AC2B-3132244318DF}"/>
              </a:ext>
            </a:extLst>
          </p:cNvPr>
          <p:cNvSpPr txBox="1"/>
          <p:nvPr/>
        </p:nvSpPr>
        <p:spPr>
          <a:xfrm>
            <a:off x="5436698" y="1212156"/>
            <a:ext cx="1306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</a:t>
            </a:r>
          </a:p>
          <a:p>
            <a:r>
              <a:rPr lang="en-US" dirty="0"/>
              <a:t>dissimilarity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1FED44-073E-4A60-8D2B-C2EFA3D93C28}"/>
              </a:ext>
            </a:extLst>
          </p:cNvPr>
          <p:cNvSpPr txBox="1"/>
          <p:nvPr/>
        </p:nvSpPr>
        <p:spPr>
          <a:xfrm>
            <a:off x="7494294" y="1230842"/>
            <a:ext cx="11925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Ordination</a:t>
            </a:r>
          </a:p>
          <a:p>
            <a:r>
              <a:rPr lang="en-US" dirty="0"/>
              <a:t>distance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999" y="84669"/>
            <a:ext cx="6646333" cy="664633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6488668"/>
            <a:ext cx="685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https://jslefche.files.wordpress.com/2012/10/nmdsconvex.png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287</Words>
  <Application>Microsoft Office PowerPoint</Application>
  <PresentationFormat>On-screen Show (4:3)</PresentationFormat>
  <Paragraphs>61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Multidimensional scaling</vt:lpstr>
      <vt:lpstr>Students should be able</vt:lpstr>
      <vt:lpstr>Multidimensional scaling (MDS) </vt:lpstr>
      <vt:lpstr>Goal of MDS</vt:lpstr>
      <vt:lpstr>NMDS</vt:lpstr>
      <vt:lpstr>NMDS procedure</vt:lpstr>
      <vt:lpstr>PowerPoint Presentation</vt:lpstr>
      <vt:lpstr>Stress – goodness of fit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Multidimensional scaling</dc:title>
  <dc:subject/>
  <dc:creator>Pimonrat Tiansawat</dc:creator>
  <cp:keywords/>
  <dc:description/>
  <cp:lastModifiedBy>PIMONRAT TIANSAWAT</cp:lastModifiedBy>
  <cp:revision>16</cp:revision>
  <dcterms:created xsi:type="dcterms:W3CDTF">2017-04-24T17:13:05Z</dcterms:created>
  <dcterms:modified xsi:type="dcterms:W3CDTF">2026-01-15T04:47:23Z</dcterms:modified>
  <cp:category/>
</cp:coreProperties>
</file>